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44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11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53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B592-6A20-A949-8DD8-C2E649AC1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CB558-015B-FE4B-BDAA-8C8738557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5E92-35C5-7C49-966A-1FAB371F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4336E-E0AD-F240-8499-E5BB0B19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21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B847-37CB-514A-BACF-F64B69C6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AA7CC-E197-4A48-93BD-F75404B1A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964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E35-AEC0-7748-BD44-976CDC2B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60238-2C6B-6640-A4E6-563FC5907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15DAB-874E-C64D-86B4-CCE80969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9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E3C1B-274B-0E4C-B66B-18F30785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EA418-6229-CD4C-A1CA-B173D9FA0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85246-F654-0B46-9906-C1BC65DAC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8DB27-8E44-B642-882B-C5FA628F9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DD044-68C8-D34A-875A-0CA05BDFE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55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93FB-DD45-D345-B6E8-F7B3E9B4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932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833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7CF5-6E34-994C-9DF8-F60E3E063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DE7E2-0D10-2A41-AD7E-65138295A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5CCAF-4507-D249-B940-8A5E64B09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31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F1E3-1829-6842-88D5-EC0ADFB4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6DD37-2670-704C-AF06-D12662CBE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C3BBE-A013-AB42-9D2D-A62A1FA70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224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F46E80-8582-7048-88F4-AB63074F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B102780A-184A-9E43-9EE8-7F7C9EBB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79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PT Sans Bold" panose="020B0503020203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PT Sans Regular" panose="020B05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T Sans Regular" panose="020B05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T Sans Regular" panose="020B05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T Sans Regular" panose="020B05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T Sans Regular" panose="020B05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0A62E-29BA-4D77-FC5A-2FE413450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130" y="1122363"/>
            <a:ext cx="10668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Disturbance-Aware Model-Based and Model-Free Zero-Sum Pursuit-Evasion Control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164CB-C8A4-58B7-7D39-EFB5895FE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216"/>
            <a:ext cx="9144000" cy="884583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Blaine Christopher Swieder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of Science in Electrical and Computer Engineering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Tennessee Technological University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Project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4983480" cy="315468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Start from one discrete-time zero-sum pursuit-evasion game.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Compute nominal saddle policies using four established methods.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Add persistent command-channel offsets at the execution layer.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Estimate offsets and apply affine compensation.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Validate convergence, estimator accuracy, compensation, trajectories, and cost in MATLAB.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011680"/>
            <a:ext cx="1143000" cy="77724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2121408"/>
            <a:ext cx="8686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2777"/>
                </a:solidFill>
                <a:latin typeface="Times New Roman"/>
              </a:rPr>
              <a:t>Nominal</a:t>
            </a:r>
            <a:br/>
            <a:r>
              <a:rPr sz="1200" b="1" i="0">
                <a:solidFill>
                  <a:srgbClr val="4A2777"/>
                </a:solidFill>
                <a:latin typeface="Times New Roman"/>
              </a:rPr>
              <a:t>zero-sum game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23760" y="2404872"/>
            <a:ext cx="274319" cy="0"/>
          </a:xfrm>
          <a:prstGeom prst="line">
            <a:avLst/>
          </a:prstGeom>
          <a:ln w="15240">
            <a:solidFill>
              <a:srgbClr val="4A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011680"/>
            <a:ext cx="1143000" cy="77724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2121408"/>
            <a:ext cx="8686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2777"/>
                </a:solidFill>
                <a:latin typeface="Times New Roman"/>
              </a:rPr>
              <a:t>Offset</a:t>
            </a:r>
            <a:br/>
            <a:r>
              <a:rPr sz="1200" b="1" i="0">
                <a:solidFill>
                  <a:srgbClr val="4A2777"/>
                </a:solidFill>
                <a:latin typeface="Times New Roman"/>
              </a:rPr>
              <a:t>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1080" y="2404872"/>
            <a:ext cx="274320" cy="0"/>
          </a:xfrm>
          <a:prstGeom prst="line">
            <a:avLst/>
          </a:prstGeom>
          <a:ln w="15240">
            <a:solidFill>
              <a:srgbClr val="4A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15400" y="2011680"/>
            <a:ext cx="1143000" cy="77724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2121408"/>
            <a:ext cx="8686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2777"/>
                </a:solidFill>
                <a:latin typeface="Times New Roman"/>
              </a:rPr>
              <a:t>Affine</a:t>
            </a:r>
            <a:br/>
            <a:r>
              <a:rPr sz="1200" b="1" i="0">
                <a:solidFill>
                  <a:srgbClr val="4A2777"/>
                </a:solidFill>
                <a:latin typeface="Times New Roman"/>
              </a:rPr>
              <a:t>compensation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0" y="2404872"/>
            <a:ext cx="274320" cy="0"/>
          </a:xfrm>
          <a:prstGeom prst="line">
            <a:avLst/>
          </a:prstGeom>
          <a:ln w="15240">
            <a:solidFill>
              <a:srgbClr val="4A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332720" y="2011680"/>
            <a:ext cx="1143000" cy="77724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69880" y="2121408"/>
            <a:ext cx="8686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2777"/>
                </a:solidFill>
                <a:latin typeface="Times New Roman"/>
              </a:rPr>
              <a:t>MATLAB</a:t>
            </a:r>
            <a:br/>
            <a:r>
              <a:rPr sz="1200" b="1" i="0">
                <a:solidFill>
                  <a:srgbClr val="4A2777"/>
                </a:solidFill>
                <a:latin typeface="Times New Roman"/>
              </a:rPr>
              <a:t>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Project focus: preserve the original algorithms while testing execution-side command mismatch.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6400800" cy="292608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Autonomous and adversarial systems must act while another agent influences the same state.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Nominal derivations often assume that commanded inputs are applied exactly.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Persistent actuator or command-channel bias can shift the realized trajectory even when the nominal controller is stable.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This project separates nominal algorithm validity from realized command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508760"/>
            <a:ext cx="2743200" cy="347472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545336"/>
            <a:ext cx="26517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4A2777"/>
                </a:solidFill>
                <a:latin typeface="Times New Roman"/>
              </a:rPr>
              <a:t>Nominal assumption</a:t>
            </a:r>
          </a:p>
        </p:txBody>
      </p:sp>
      <p:pic>
        <p:nvPicPr>
          <p:cNvPr id="8" name="Picture 7" descr="eq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105708"/>
            <a:ext cx="3246120" cy="6349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3154680"/>
            <a:ext cx="2743200" cy="347472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3191256"/>
            <a:ext cx="26517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4A2777"/>
                </a:solidFill>
                <a:latin typeface="Times New Roman"/>
              </a:rPr>
              <a:t>Implementation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675887"/>
            <a:ext cx="2834640" cy="109728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commanded input ≠ realized input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affine forcing changes trajectory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Algorithm convergence alone does not guarantee correct physical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Objective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337560" cy="228600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306324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Project objective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extend four established zero-sum methods with the same command-offset model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estimate persistent offsets using information available to each method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compare recovery under a common MATLAB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337560" cy="228600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344168"/>
            <a:ext cx="306324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In scope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two-player discrete-time linear-quadratic game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model-based GARE PI/VI and model-free Q-learning PI/VI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constant or slowly varying matched command offsets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337560" cy="228600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344168"/>
            <a:ext cx="306324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Out of scope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new base PI, VI, or Q-learning algorithms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nonlinear vehicle or QCar hardware validation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general fault-tolerant control claims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The contribution is the unified disturbance-aware extension and matched evaluation, not a new base algorithm.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Problem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251960" cy="237744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Pursuer input minimizes the quadratic game cost.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Evader input maximizes the same cost.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Nominal policies are linear state feedback gains.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Validity requires closed-loop stability and saddle-point curvature.</a:t>
            </a:r>
          </a:p>
        </p:txBody>
      </p:sp>
      <p:pic>
        <p:nvPicPr>
          <p:cNvPr id="6" name="Picture 5" descr="eq_no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827" y="1234440"/>
            <a:ext cx="5229225" cy="1645919"/>
          </a:xfrm>
          <a:prstGeom prst="rect">
            <a:avLst/>
          </a:prstGeom>
        </p:spPr>
      </p:pic>
      <p:pic>
        <p:nvPicPr>
          <p:cNvPr id="7" name="Picture 6" descr="eq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515" y="3794760"/>
            <a:ext cx="7041368" cy="91439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All four algorithms solve the same nominal linear-quadratic zero-sum game.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Command-Channel Bias and Compensation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5212080" cy="150876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Uncompensated execution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persistent offsets enter after commands are computed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nominal gains remain unchanged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realized dynamics include constant affine forcing</a:t>
            </a:r>
          </a:p>
        </p:txBody>
      </p:sp>
      <p:pic>
        <p:nvPicPr>
          <p:cNvPr id="7" name="Picture 6" descr="eq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19" y="1405553"/>
            <a:ext cx="5029200" cy="9836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474720"/>
            <a:ext cx="5212080" cy="150876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Affine compensation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subtract estimated offsets from the policy commands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residual error depends on b minus estimated b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exact estimates recover nominal closed-loop behavior</a:t>
            </a:r>
          </a:p>
        </p:txBody>
      </p:sp>
      <p:pic>
        <p:nvPicPr>
          <p:cNvPr id="10" name="Picture 9" descr="eq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516269"/>
            <a:ext cx="5029200" cy="9684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The disturbance-aware layer translates commands; it does not rewrite the nominal game.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Four Algorithm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983480" cy="274320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35607"/>
            <a:ext cx="470916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Model-Based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GARE policy iteration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GARE value iteration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known matrices used during nominal computation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offsets estimated from transition residuals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4983480" cy="274320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435607"/>
            <a:ext cx="470916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Model-Free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quadratic Q-learning policy iteration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quadratic Q-learning value iteration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sampled transitions used in Bellman regression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offsets estimated from command mismatch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2472" y="1325880"/>
            <a:ext cx="27432" cy="27432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Outer-iteration counts compare numerical paths, not universal runtime or sample complexity.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Validation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2148840" cy="210312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187452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2777"/>
                </a:solidFill>
                <a:latin typeface="Times New Roman"/>
              </a:rPr>
              <a:t>1. Nominal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zero offsets; reference trajectory and cost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468880"/>
            <a:ext cx="685800" cy="0"/>
          </a:xfrm>
          <a:prstGeom prst="line">
            <a:avLst/>
          </a:prstGeom>
          <a:ln w="12700">
            <a:solidFill>
              <a:srgbClr val="4A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11880" y="1417320"/>
            <a:ext cx="2148840" cy="210312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527048"/>
            <a:ext cx="187452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2777"/>
                </a:solidFill>
                <a:latin typeface="Times New Roman"/>
              </a:rPr>
              <a:t>2. Uncompensated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true offsets enter; no correction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2468880"/>
            <a:ext cx="685800" cy="0"/>
          </a:xfrm>
          <a:prstGeom prst="line">
            <a:avLst/>
          </a:prstGeom>
          <a:ln w="12700">
            <a:solidFill>
              <a:srgbClr val="4A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46520" y="1417320"/>
            <a:ext cx="2148840" cy="210312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27048"/>
            <a:ext cx="187452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2777"/>
                </a:solidFill>
                <a:latin typeface="Times New Roman"/>
              </a:rPr>
              <a:t>3. Estimated compensation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estimated offsets subtracted from commands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0" y="2468880"/>
            <a:ext cx="685800" cy="0"/>
          </a:xfrm>
          <a:prstGeom prst="line">
            <a:avLst/>
          </a:prstGeom>
          <a:ln w="12700">
            <a:solidFill>
              <a:srgbClr val="4A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81160" y="1417320"/>
            <a:ext cx="2148840" cy="210312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1527048"/>
            <a:ext cx="187452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2777"/>
                </a:solidFill>
                <a:latin typeface="Times New Roman"/>
              </a:rPr>
              <a:t>4. Exact compensation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true offsets used to verify algebra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10058400" cy="137160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Same system matrices, game weights, offsets, initial condition, and simulation horizon.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Same reporting structure across GARE and Q-learning methods.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Exact compensation is a verification case, not a realizable unknown-bias controller.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The four cases isolate nominal convergence, offset damage, practical recovery, and exact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Validation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383280" cy="292608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3108960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Nominal game validity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value or Q-function convergence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gain convergence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GARE, Lyapunov, or Bellman residual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closed-loop spectral radius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saddle-point curvature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292608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344168"/>
            <a:ext cx="3108960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Data and conditioning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feature rank for Q-learning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matrix conditioning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regression residuals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estimator rank and conditioning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234440"/>
            <a:ext cx="3383280" cy="292608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CB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344168"/>
            <a:ext cx="3108960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Execution recovery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bias-estimation error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analytical vs simulated deviation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state and input trajectories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finite-window game cost</a:t>
            </a:r>
          </a:p>
        </p:txBody>
      </p:sp>
      <p:pic>
        <p:nvPicPr>
          <p:cNvPr id="11" name="Picture 10" descr="eq_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79" y="4800600"/>
            <a:ext cx="6309360" cy="731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A valid project result must satisfy the game equations and the execution bookkeeping.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Results: Policy Iteration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33856"/>
            <a:ext cx="4251960" cy="292608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170432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GARE PI: 4 outer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133856"/>
            <a:ext cx="4251960" cy="292608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170432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Q-learning PI: 5 outer updates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19893"/>
            <a:ext cx="5257800" cy="3601092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e_1_GARE_PI_Convergenc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893"/>
            <a:ext cx="5257800" cy="360109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72200" y="1769551"/>
            <a:ext cx="5257800" cy="3501776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ure_9_Convergence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69551"/>
            <a:ext cx="5257800" cy="35017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Both policy-iteration methods reach the same nominal saddle solution in a few outer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Results: Value Iteration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33856"/>
            <a:ext cx="4251960" cy="292608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170432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GARE VI: 633 value-iteration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133856"/>
            <a:ext cx="4251960" cy="292608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170432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Q-learning VI: 633 value-iteration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78537"/>
            <a:ext cx="5257800" cy="3483805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e_5_Convergenc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78537"/>
            <a:ext cx="5257800" cy="348380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72200" y="1778537"/>
            <a:ext cx="5257800" cy="3483805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ure_13_Convergence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8537"/>
            <a:ext cx="5257800" cy="348380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Value iteration follows a longer update sequence, but reaches the same final controller.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Results: Estimator Information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0" y="1143000"/>
            <a:ext cx="4297680" cy="310896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179576"/>
            <a:ext cx="4206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Known-model residual estimator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143000"/>
            <a:ext cx="4297680" cy="310896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179576"/>
            <a:ext cx="4206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Direct command-mismatch estimator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9053" y="1645919"/>
            <a:ext cx="3994173" cy="3611880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ader_model_ba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53" y="1645919"/>
            <a:ext cx="3994173" cy="3611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87496" y="1645920"/>
            <a:ext cx="4227206" cy="3611879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vader_model_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496" y="1645920"/>
            <a:ext cx="4227206" cy="361187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The smaller model-free residual comes from direct channel measurement, not from a better nominal controller.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Results: State-Deviation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15568"/>
            <a:ext cx="5029200" cy="310896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152144"/>
            <a:ext cx="49377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Known-model estimator: 99.725% reduction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115568"/>
            <a:ext cx="5029200" cy="310896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52144"/>
            <a:ext cx="49377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Direct-mismatch estimator: 99.990%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56092"/>
            <a:ext cx="5349240" cy="3638423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e_2_Cost_Weighted_State_Deviation(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6092"/>
            <a:ext cx="5349240" cy="363842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72200" y="1821390"/>
            <a:ext cx="5349240" cy="3507826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ure_10_Cost_Weighted_State_Deviation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1390"/>
            <a:ext cx="5349240" cy="350782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Uncompensated max deviation ≈ 4.13 × 10⁻²; residual error is governed by estimator accuracy.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Results: Command-Channel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0" y="1143000"/>
            <a:ext cx="4297680" cy="310896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179576"/>
            <a:ext cx="4206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Known-model compensation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143000"/>
            <a:ext cx="4297680" cy="310896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179576"/>
            <a:ext cx="4206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A2777"/>
                </a:solidFill>
                <a:latin typeface="Times New Roman"/>
              </a:rPr>
              <a:t>Direct-mismatch compensation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4461" y="1627632"/>
            <a:ext cx="3603357" cy="3858768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md_model_based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461" y="1627632"/>
            <a:ext cx="3603357" cy="38587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73562" y="1627632"/>
            <a:ext cx="3855075" cy="3858768"/>
          </a:xfrm>
          <a:prstGeom prst="rect">
            <a:avLst/>
          </a:prstGeom>
          <a:noFill/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md_model_fre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562" y="1627632"/>
            <a:ext cx="3855075" cy="38587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Compensated commands are shifted so realized inputs nearly overlap nominal/exact behavior.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Matched Four-Method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79095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4A27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Steps</a:t>
                      </a:r>
                    </a:p>
                  </a:txBody>
                  <a:tcPr>
                    <a:solidFill>
                      <a:srgbClr val="4A27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Residual</a:t>
                      </a:r>
                    </a:p>
                  </a:txBody>
                  <a:tcPr>
                    <a:solidFill>
                      <a:srgbClr val="4A27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ρ(Acl)</a:t>
                      </a:r>
                    </a:p>
                  </a:txBody>
                  <a:tcPr>
                    <a:solidFill>
                      <a:srgbClr val="4A27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Curvature pair</a:t>
                      </a:r>
                    </a:p>
                  </a:txBody>
                  <a:tcPr>
                    <a:solidFill>
                      <a:srgbClr val="4A2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GARE 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GARE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Times New Roman"/>
                        </a:rPr>
                        <a:t>0.9819707273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(1.76184, -0.99851)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GARE VI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633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GARE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Times New Roman"/>
                        </a:rPr>
                        <a:t>0.9819707273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(1.76184, -0.99851)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Q-learning 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Bellman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Times New Roman"/>
                        </a:rPr>
                        <a:t>0.9819707273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(1.76184, -0.99851)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Q-learning VI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633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Bellman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Times New Roman"/>
                        </a:rPr>
                        <a:t>0.9819707273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(1.76184, -0.99851)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eq_r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628930"/>
            <a:ext cx="2423160" cy="2991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87968" y="2304288"/>
            <a:ext cx="2514600" cy="1664208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All four methods recovered the same stable nominal controller.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Spectral radius, conditioning, and saddle curvatures agreed to displayed precision.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Different step counts indicate different numerical paths, not universal speed ranking.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Identical closed-loop stability is the clearest evidence that all four methods reached the same nominal solution.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Main Project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6720840" cy="361188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Nominal agreement: all four methods recovered the same stable saddle solution.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Offset effect: persistent command offsets changed trajectory and finite-window cost without changing nominal eigenvalues.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Compensation recovery: estimated affine compensation reduced maximum deviation by 99.725% or 99.990%.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Estimator distinction: direct command mismatch produced the smallest residual in this benchmark.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• Interpretation: the result is a bounded MATLAB-validated foundation, not a universal algorithm ranking.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17320"/>
            <a:ext cx="3200400" cy="182880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CB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0" y="1527048"/>
            <a:ext cx="292608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Core result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same nominal game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same nominal saddle solution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different estimator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3886200"/>
            <a:ext cx="3840480" cy="502920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3922776"/>
            <a:ext cx="3749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4A2777"/>
                </a:solidFill>
                <a:latin typeface="Times New Roman"/>
              </a:rPr>
              <a:t>Estimated compensation: &gt;99.7% deviation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The project shows how to add disturbance-aware execution without replacing the original zero-sum algorithms.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3291840" cy="324612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4168"/>
            <a:ext cx="3017520" cy="302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Model limitations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reduced-order linear benchmark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fully observed, deterministic nominal computation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not a complete nonlinear vehicle-capture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291840" cy="3246120"/>
          </a:xfrm>
          <a:prstGeom prst="roundRect">
            <a:avLst/>
          </a:prstGeom>
          <a:solidFill>
            <a:srgbClr val="EDE8F5"/>
          </a:solidFill>
          <a:ln w="12700">
            <a:solidFill>
              <a:srgbClr val="4A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344168"/>
            <a:ext cx="3017520" cy="302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Disturbance limits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constant matched offsets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no time-varying faults or dead zones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no saturation or safety filtering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291840" cy="324612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344168"/>
            <a:ext cx="3017520" cy="302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A2777"/>
                </a:solidFill>
                <a:latin typeface="Times New Roman"/>
              </a:rPr>
              <a:t>Evidence limits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offline sufficiently excited Q-learning data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no complete complexity comparison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• no QLabs or physical QCar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The MATLAB evidence is intentionally controlled and should not be overstated as hardware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Times New Roman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881360" cy="2743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2011680" cy="411480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9616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4A2777"/>
                </a:solidFill>
                <a:latin typeface="Times New Roman"/>
              </a:rPr>
              <a:t>MATLAB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463040"/>
            <a:ext cx="2011680" cy="411480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0" y="1499616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4A2777"/>
                </a:solidFill>
                <a:latin typeface="Times New Roman"/>
              </a:rPr>
              <a:t>QLabs simulation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1463040"/>
            <a:ext cx="2011680" cy="411480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499616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4A2777"/>
                </a:solidFill>
                <a:latin typeface="Times New Roman"/>
              </a:rPr>
              <a:t>Physical QCar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1664208"/>
            <a:ext cx="2103120" cy="0"/>
          </a:xfrm>
          <a:prstGeom prst="line">
            <a:avLst/>
          </a:prstGeom>
          <a:ln w="19050">
            <a:solidFill>
              <a:srgbClr val="4A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1664208"/>
            <a:ext cx="2057400" cy="0"/>
          </a:xfrm>
          <a:prstGeom prst="line">
            <a:avLst/>
          </a:prstGeom>
          <a:ln w="19050">
            <a:solidFill>
              <a:srgbClr val="4A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743200"/>
            <a:ext cx="10241280" cy="256032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Replace the reduced benchmark with nonlinear two-vehicle dynamics.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Generalize scalar offsets to acceleration and steering offset vectors.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Move from offline calibration to online bias estimation.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Add output feedback, constraints, saturation, delays, and safety filters.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Verify command mapping and timing in QLabs before physical QCar tests.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Extend to multi-pursuer or multi-evader settings after the two-player case is stable.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6281928"/>
            <a:ext cx="10881360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6318504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4A2777"/>
                </a:solidFill>
                <a:latin typeface="Times New Roman"/>
              </a:rPr>
              <a:t>Future work should extend the validated reduced-order framework rather than skip directly to hardware claims.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>
                <a:solidFill>
                  <a:srgbClr val="266FA0"/>
                </a:solidFill>
                <a:latin typeface="Times New Roman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60604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i="0">
                <a:solidFill>
                  <a:srgbClr val="000000"/>
                </a:solidFill>
                <a:latin typeface="Times New Roman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2461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4A2777"/>
                </a:solidFill>
                <a:latin typeface="Times New Roman"/>
              </a:rPr>
              <a:t>Disturbance-Aware Model-Based and Model-Free Zero-Sum Pursuit-Evasion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_16.9_Powerpoint[2] [Read-Only]" id="{222A19D4-8689-5742-8DEA-08159459E6BD}" vid="{91EEA40F-F2BE-1D4A-A8C2-AE1A0026DA7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Tech_16.9_Powerpoint</Template>
  <TotalTime>126</TotalTime>
  <Words>1216</Words>
  <Application>Microsoft Office PowerPoint</Application>
  <PresentationFormat>Widescreen</PresentationFormat>
  <Paragraphs>186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PT Sans Bold</vt:lpstr>
      <vt:lpstr>PT Sans Regular</vt:lpstr>
      <vt:lpstr>Times New Roman</vt:lpstr>
      <vt:lpstr>Office Theme</vt:lpstr>
      <vt:lpstr>Disturbance-Aware Model-Based and Model-Free Zero-Sum Pursuit-Evasion Control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Blaine Swieder</dc:creator>
  <cp:lastModifiedBy>Blaine Swieder</cp:lastModifiedBy>
  <cp:revision>3</cp:revision>
  <dcterms:created xsi:type="dcterms:W3CDTF">2026-08-01T00:20:08Z</dcterms:created>
  <dcterms:modified xsi:type="dcterms:W3CDTF">2026-08-01T03:53:12Z</dcterms:modified>
</cp:coreProperties>
</file>